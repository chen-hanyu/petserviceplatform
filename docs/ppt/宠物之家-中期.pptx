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E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320040" cy="4572000"/>
          </a:xfrm>
          <a:prstGeom prst="rect">
            <a:avLst/>
          </a:prstGeom>
          <a:solidFill>
            <a:srgbClr val="7E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2F3A38"/>
                </a:solidFill>
                <a:latin typeface="Microsoft YaHei"/>
              </a:defRPr>
            </a:pPr>
            <a:r>
              <a:t>宠物综合服务平台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66706E"/>
                </a:solidFill>
                <a:latin typeface="Microsoft YaHei"/>
              </a:defRPr>
            </a:pPr>
            <a:r>
              <a:t>中期进展汇报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017520"/>
            <a:ext cx="2286000" cy="45720"/>
          </a:xfrm>
          <a:prstGeom prst="rect">
            <a:avLst/>
          </a:prstGeom>
          <a:solidFill>
            <a:srgbClr val="7E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F3A38"/>
                </a:solidFill>
                <a:latin typeface="Microsoft YaHei"/>
              </a:defRPr>
            </a:pPr>
            <a:r>
              <a:t>前端：屈天顺（2323040522）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F3A38"/>
                </a:solidFill>
                <a:latin typeface="Microsoft YaHei"/>
              </a:defRPr>
            </a:pPr>
            <a:r>
              <a:t>后端：陈涵予（2320100624）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8A3A0"/>
                </a:solidFill>
                <a:latin typeface="Microsoft YaHei"/>
              </a:defRPr>
            </a:pPr>
            <a:r>
              <a:t>技术栈：Vue 3 + Spring Boot 3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46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8A3A0"/>
                </a:solidFill>
                <a:latin typeface="Microsoft YaHei"/>
              </a:defRPr>
            </a:pPr>
            <a:r>
              <a:t>2026年5月13日</a:t>
            </a:r>
          </a:p>
        </p:txBody>
      </p:sp>
      <p:sp>
        <p:nvSpPr>
          <p:cNvPr id="11" name="Oval 10"/>
          <p:cNvSpPr/>
          <p:nvPr/>
        </p:nvSpPr>
        <p:spPr>
          <a:xfrm>
            <a:off x="9875520" y="1828800"/>
            <a:ext cx="457200" cy="457200"/>
          </a:xfrm>
          <a:prstGeom prst="ellipse">
            <a:avLst/>
          </a:prstGeom>
          <a:solidFill>
            <a:srgbClr val="E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0" y="3200400"/>
            <a:ext cx="457200" cy="457200"/>
          </a:xfrm>
          <a:prstGeom prst="ellipse">
            <a:avLst/>
          </a:prstGeom>
          <a:solidFill>
            <a:srgbClr val="E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1200" y="4572000"/>
            <a:ext cx="457200" cy="457200"/>
          </a:xfrm>
          <a:prstGeom prst="ellipse">
            <a:avLst/>
          </a:prstGeom>
          <a:solidFill>
            <a:srgbClr val="E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72800" y="5669280"/>
            <a:ext cx="457200" cy="457200"/>
          </a:xfrm>
          <a:prstGeom prst="ellipse">
            <a:avLst/>
          </a:prstGeom>
          <a:solidFill>
            <a:srgbClr val="E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7E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E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F3A38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7E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280160"/>
            <a:ext cx="457200" cy="457200"/>
          </a:xfrm>
          <a:prstGeom prst="ellipse">
            <a:avLst/>
          </a:prstGeom>
          <a:solidFill>
            <a:srgbClr val="7E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25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F3A38"/>
                </a:solidFill>
                <a:latin typeface="Microsoft YaHei"/>
              </a:defRPr>
            </a:pPr>
            <a:r>
              <a:t>项目概况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7E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011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F3A38"/>
                </a:solidFill>
                <a:latin typeface="Microsoft YaHei"/>
              </a:defRPr>
            </a:pPr>
            <a:r>
              <a:t>当前进展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51760"/>
            <a:ext cx="457200" cy="457200"/>
          </a:xfrm>
          <a:prstGeom prst="ellipse">
            <a:avLst/>
          </a:prstGeom>
          <a:solidFill>
            <a:srgbClr val="7E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97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F3A38"/>
                </a:solidFill>
                <a:latin typeface="Microsoft YaHei"/>
              </a:defRPr>
            </a:pPr>
            <a:r>
              <a:t>前端工作 — 屈天顺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337560"/>
            <a:ext cx="457200" cy="457200"/>
          </a:xfrm>
          <a:prstGeom prst="ellipse">
            <a:avLst/>
          </a:prstGeom>
          <a:solidFill>
            <a:srgbClr val="7E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383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F3A38"/>
                </a:solidFill>
                <a:latin typeface="Microsoft YaHei"/>
              </a:defRPr>
            </a:pPr>
            <a:r>
              <a:t>后端工作 — 陈涵予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023360"/>
            <a:ext cx="457200" cy="457200"/>
          </a:xfrm>
          <a:prstGeom prst="ellipse">
            <a:avLst/>
          </a:prstGeom>
          <a:solidFill>
            <a:srgbClr val="7E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069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F3A38"/>
                </a:solidFill>
                <a:latin typeface="Microsoft YaHei"/>
              </a:defRPr>
            </a:pPr>
            <a:r>
              <a:t>测试与CI/CD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709160"/>
            <a:ext cx="457200" cy="457200"/>
          </a:xfrm>
          <a:prstGeom prst="ellipse">
            <a:avLst/>
          </a:prstGeom>
          <a:solidFill>
            <a:srgbClr val="7E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754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F3A38"/>
                </a:solidFill>
                <a:latin typeface="Microsoft YaHei"/>
              </a:defRPr>
            </a:pPr>
            <a:r>
              <a:t>程序演示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394960"/>
            <a:ext cx="457200" cy="457200"/>
          </a:xfrm>
          <a:prstGeom prst="ellipse">
            <a:avLst/>
          </a:prstGeom>
          <a:solidFill>
            <a:srgbClr val="7E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440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F3A38"/>
                </a:solidFill>
                <a:latin typeface="Microsoft YaHei"/>
              </a:defRPr>
            </a:pPr>
            <a:r>
              <a:t>后续计划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E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F3A38"/>
                </a:solidFill>
                <a:latin typeface="Microsoft YaHei"/>
              </a:defRPr>
            </a:pPr>
            <a:r>
              <a:t>01  项目概况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6576"/>
          </a:xfrm>
          <a:prstGeom prst="rect">
            <a:avLst/>
          </a:prstGeom>
          <a:solidFill>
            <a:srgbClr val="7E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5303520" cy="2560320"/>
          </a:xfrm>
          <a:prstGeom prst="roundRect">
            <a:avLst/>
          </a:prstGeom>
          <a:solidFill>
            <a:srgbClr val="F2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BB98C"/>
                </a:solidFill>
                <a:latin typeface="Microsoft YaHei"/>
              </a:defRPr>
            </a:pPr>
            <a:r>
              <a:t>🎯  项目定位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F3A38"/>
                </a:solidFill>
                <a:latin typeface="Microsoft YaHei"/>
              </a:defRPr>
            </a:pPr>
            <a:r>
              <a:t>面向养宠用户的一站式服务平台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706E"/>
                </a:solidFill>
                <a:latin typeface="Microsoft YaHei"/>
              </a:defRPr>
            </a:pPr>
            <a:r>
              <a:t>三端协同：用户Web前台 + 管理员后台 + Spring Boot后端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706E"/>
                </a:solidFill>
                <a:latin typeface="Microsoft YaHei"/>
              </a:defRPr>
            </a:pPr>
            <a:r>
              <a:t>核心功能：社区交流、领养申请、服务预约、商城购物、宠物档案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029200" cy="2560320"/>
          </a:xfrm>
          <a:prstGeom prst="roundRect">
            <a:avLst/>
          </a:prstGeom>
          <a:solidFill>
            <a:srgbClr val="F2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BB98C"/>
                </a:solidFill>
                <a:latin typeface="Microsoft YaHei"/>
              </a:defRPr>
            </a:pPr>
            <a:r>
              <a:t>🛠  技术栈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737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ECFBC"/>
                </a:solidFill>
                <a:latin typeface="Microsoft YaHei"/>
              </a:defRPr>
            </a:pPr>
            <a:r>
              <a:t>前端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737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F3A38"/>
                </a:solidFill>
                <a:latin typeface="Microsoft YaHei"/>
              </a:defRPr>
            </a:pPr>
            <a:r>
              <a:t>Vue 3 + Vite + TypeScript + Pinia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03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ECFBC"/>
                </a:solidFill>
                <a:latin typeface="Microsoft YaHei"/>
              </a:defRPr>
            </a:pPr>
            <a:r>
              <a:t>后端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1031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F3A38"/>
                </a:solidFill>
                <a:latin typeface="Microsoft YaHei"/>
              </a:defRPr>
            </a:pPr>
            <a:r>
              <a:t>Java 17 + Spring Boot 3 + MyBatis-Plus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468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ECFBC"/>
                </a:solidFill>
                <a:latin typeface="Microsoft YaHei"/>
              </a:defRPr>
            </a:pPr>
            <a:r>
              <a:t>鉴权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468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F3A38"/>
                </a:solidFill>
                <a:latin typeface="Microsoft YaHei"/>
              </a:defRPr>
            </a:pPr>
            <a:r>
              <a:t>Spring Security + JWT 角色隔离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834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ECFBC"/>
                </a:solidFill>
                <a:latin typeface="Microsoft YaHei"/>
              </a:defRPr>
            </a:pPr>
            <a:r>
              <a:t>数据库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834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F3A38"/>
                </a:solidFill>
                <a:latin typeface="Microsoft YaHei"/>
              </a:defRPr>
            </a:pPr>
            <a:r>
              <a:t>MySQL（测试环境使用H2）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200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ECFBC"/>
                </a:solidFill>
                <a:latin typeface="Microsoft YaHei"/>
              </a:defRPr>
            </a:pPr>
            <a:r>
              <a:t>部署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2004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F3A38"/>
                </a:solidFill>
                <a:latin typeface="Microsoft YaHei"/>
              </a:defRPr>
            </a:pPr>
            <a:r>
              <a:t>本地部署 / Docker Compose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931920"/>
            <a:ext cx="10698480" cy="18288"/>
          </a:xfrm>
          <a:prstGeom prst="rect">
            <a:avLst/>
          </a:prstGeom>
          <a:solidFill>
            <a:srgbClr val="E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F3A38"/>
                </a:solidFill>
                <a:latin typeface="Microsoft YaHei"/>
              </a:defRPr>
            </a:pPr>
            <a:r>
              <a:t>👥  团队分工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572000"/>
            <a:ext cx="5303520" cy="2011680"/>
          </a:xfrm>
          <a:prstGeom prst="roundRect">
            <a:avLst/>
          </a:prstGeom>
          <a:solidFill>
            <a:srgbClr val="F2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6634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B7A"/>
                </a:solidFill>
                <a:latin typeface="Microsoft YaHei"/>
              </a:defRPr>
            </a:pPr>
            <a:r>
              <a:t>屈天顺（前端）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0292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F3A38"/>
                </a:solidFill>
                <a:latin typeface="Microsoft YaHei"/>
              </a:defRPr>
            </a:pPr>
            <a:r>
              <a:t>负责全部前台页面开发（首页、社区、领养、服务、商城、个人中心），组件封装（WebFooter、DataState、Design Token），API对接联调，前端测试与CI配置。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572000"/>
            <a:ext cx="5029200" cy="2011680"/>
          </a:xfrm>
          <a:prstGeom prst="roundRect">
            <a:avLst/>
          </a:prstGeom>
          <a:solidFill>
            <a:srgbClr val="F2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ECFBC"/>
                </a:solidFill>
                <a:latin typeface="Microsoft YaHei"/>
              </a:defRPr>
            </a:pPr>
            <a:r>
              <a:t>陈涵予（后端）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0292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F3A38"/>
                </a:solidFill>
                <a:latin typeface="Microsoft YaHei"/>
              </a:defRPr>
            </a:pPr>
            <a:r>
              <a:t>负责后端工程搭建（Spring Boot分层、JWT鉴权、统一响应），全模块业务实现（认证、社区、领养、预约、商城、宠物档案），数据库设计、测试与CI/CD配置。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E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F3A38"/>
                </a:solidFill>
                <a:latin typeface="Microsoft YaHei"/>
              </a:defRPr>
            </a:pPr>
            <a:r>
              <a:t>02  当前进展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6576"/>
          </a:xfrm>
          <a:prstGeom prst="rect">
            <a:avLst/>
          </a:prstGeom>
          <a:solidFill>
            <a:srgbClr val="7E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2011680" cy="731520"/>
          </a:xfrm>
          <a:prstGeom prst="roundRect">
            <a:avLst/>
          </a:prstGeom>
          <a:solidFill>
            <a:srgbClr val="F2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F3A38"/>
                </a:solidFill>
                <a:latin typeface="Microsoft YaHei"/>
              </a:defRPr>
            </a:pPr>
            <a:r>
              <a:t>用户认证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ECFBC"/>
                </a:solidFill>
                <a:latin typeface="Microsoft YaHei"/>
              </a:defRPr>
            </a:pPr>
            <a:r>
              <a:t>✅ 已完成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097280"/>
            <a:ext cx="2011680" cy="731520"/>
          </a:xfrm>
          <a:prstGeom prst="roundRect">
            <a:avLst/>
          </a:prstGeom>
          <a:solidFill>
            <a:srgbClr val="F2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11887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F3A38"/>
                </a:solidFill>
                <a:latin typeface="Microsoft YaHei"/>
              </a:defRPr>
            </a:pPr>
            <a:r>
              <a:t>首页聚合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5087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ECFBC"/>
                </a:solidFill>
                <a:latin typeface="Microsoft YaHei"/>
              </a:defRPr>
            </a:pPr>
            <a:r>
              <a:t>✅ 已完成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097280"/>
            <a:ext cx="2011680" cy="731520"/>
          </a:xfrm>
          <a:prstGeom prst="roundRect">
            <a:avLst/>
          </a:prstGeom>
          <a:solidFill>
            <a:srgbClr val="F2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11887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F3A38"/>
                </a:solidFill>
                <a:latin typeface="Microsoft YaHei"/>
              </a:defRPr>
            </a:pPr>
            <a:r>
              <a:t>社区模块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15087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ECFBC"/>
                </a:solidFill>
                <a:latin typeface="Microsoft YaHei"/>
              </a:defRPr>
            </a:pPr>
            <a:r>
              <a:t>✅ 已完成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097280"/>
            <a:ext cx="2011680" cy="731520"/>
          </a:xfrm>
          <a:prstGeom prst="roundRect">
            <a:avLst/>
          </a:prstGeom>
          <a:solidFill>
            <a:srgbClr val="F2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11887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F3A38"/>
                </a:solidFill>
                <a:latin typeface="Microsoft YaHei"/>
              </a:defRPr>
            </a:pPr>
            <a:r>
              <a:t>领养模块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5087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ECFBC"/>
                </a:solidFill>
                <a:latin typeface="Microsoft YaHei"/>
              </a:defRPr>
            </a:pPr>
            <a:r>
              <a:t>✅ 已完成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1097280"/>
            <a:ext cx="2011680" cy="731520"/>
          </a:xfrm>
          <a:prstGeom prst="roundRect">
            <a:avLst/>
          </a:prstGeom>
          <a:solidFill>
            <a:srgbClr val="F2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20" y="11887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F3A38"/>
                </a:solidFill>
                <a:latin typeface="Microsoft YaHei"/>
              </a:defRPr>
            </a:pPr>
            <a:r>
              <a:t>服务预约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15087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ECFBC"/>
                </a:solidFill>
                <a:latin typeface="Microsoft YaHei"/>
              </a:defRPr>
            </a:pPr>
            <a:r>
              <a:t>✅ 已完成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011680"/>
            <a:ext cx="2011680" cy="731520"/>
          </a:xfrm>
          <a:prstGeom prst="roundRect">
            <a:avLst/>
          </a:prstGeom>
          <a:solidFill>
            <a:srgbClr val="F2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103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F3A38"/>
                </a:solidFill>
                <a:latin typeface="Microsoft YaHei"/>
              </a:defRPr>
            </a:pPr>
            <a:r>
              <a:t>商城模块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423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ECFBC"/>
                </a:solidFill>
                <a:latin typeface="Microsoft YaHei"/>
              </a:defRPr>
            </a:pPr>
            <a:r>
              <a:t>✅ 已完成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2011680"/>
            <a:ext cx="2011680" cy="731520"/>
          </a:xfrm>
          <a:prstGeom prst="roundRect">
            <a:avLst/>
          </a:prstGeom>
          <a:solidFill>
            <a:srgbClr val="F2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63240" y="2103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F3A38"/>
                </a:solidFill>
                <a:latin typeface="Microsoft YaHei"/>
              </a:defRPr>
            </a:pPr>
            <a:r>
              <a:t>宠物档案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2423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ECFBC"/>
                </a:solidFill>
                <a:latin typeface="Microsoft YaHei"/>
              </a:defRPr>
            </a:pPr>
            <a:r>
              <a:t>✅ 已完成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2011680"/>
            <a:ext cx="2011680" cy="731520"/>
          </a:xfrm>
          <a:prstGeom prst="roundRect">
            <a:avLst/>
          </a:prstGeom>
          <a:solidFill>
            <a:srgbClr val="F2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7800" y="2103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F3A38"/>
                </a:solidFill>
                <a:latin typeface="Microsoft YaHei"/>
              </a:defRPr>
            </a:pPr>
            <a:r>
              <a:t>个人中心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2423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ECFBC"/>
                </a:solidFill>
                <a:latin typeface="Microsoft YaHei"/>
              </a:defRPr>
            </a:pPr>
            <a:r>
              <a:t>✅ 已完成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2011680"/>
            <a:ext cx="2011680" cy="731520"/>
          </a:xfrm>
          <a:prstGeom prst="roundRect">
            <a:avLst/>
          </a:prstGeom>
          <a:solidFill>
            <a:srgbClr val="F2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2360" y="2103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F3A38"/>
                </a:solidFill>
                <a:latin typeface="Microsoft YaHei"/>
              </a:defRPr>
            </a:pPr>
            <a:r>
              <a:t>后台管理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2423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ECFBC"/>
                </a:solidFill>
                <a:latin typeface="Microsoft YaHei"/>
              </a:defRPr>
            </a:pPr>
            <a:r>
              <a:t>✅ 已完成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9760" y="2011680"/>
            <a:ext cx="2011680" cy="731520"/>
          </a:xfrm>
          <a:prstGeom prst="roundRect">
            <a:avLst/>
          </a:prstGeom>
          <a:solidFill>
            <a:srgbClr val="F2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46920" y="2103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F3A38"/>
                </a:solidFill>
                <a:latin typeface="Microsoft YaHei"/>
              </a:defRPr>
            </a:pPr>
            <a:r>
              <a:t>消息中心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20" y="2423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ECFBC"/>
                </a:solidFill>
                <a:latin typeface="Microsoft YaHei"/>
              </a:defRPr>
            </a:pPr>
            <a:r>
              <a:t>✅ 已完成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3200400"/>
            <a:ext cx="2560320" cy="1463040"/>
          </a:xfrm>
          <a:prstGeom prst="roundRect">
            <a:avLst/>
          </a:prstGeom>
          <a:solidFill>
            <a:srgbClr val="F2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3291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7ECFBC"/>
                </a:solidFill>
                <a:latin typeface="Microsoft YaHei"/>
              </a:defRPr>
            </a:pPr>
            <a:r>
              <a:t>70+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3840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F3A38"/>
                </a:solidFill>
                <a:latin typeface="Microsoft YaHei"/>
              </a:defRPr>
            </a:pPr>
            <a:r>
              <a:t>API端点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206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706E"/>
                </a:solidFill>
                <a:latin typeface="Microsoft YaHei"/>
              </a:defRPr>
            </a:pPr>
            <a:r>
              <a:t>用户端+管理端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66160" y="3200400"/>
            <a:ext cx="2560320" cy="1463040"/>
          </a:xfrm>
          <a:prstGeom prst="roundRect">
            <a:avLst/>
          </a:prstGeom>
          <a:solidFill>
            <a:srgbClr val="F2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60" y="3291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7ECFBC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3840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F3A38"/>
                </a:solidFill>
                <a:latin typeface="Microsoft YaHei"/>
              </a:defRPr>
            </a:pPr>
            <a:r>
              <a:t>页面模块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4206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706E"/>
                </a:solidFill>
                <a:latin typeface="Microsoft YaHei"/>
              </a:defRPr>
            </a:pPr>
            <a:r>
              <a:t>前台6+后台6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3200400"/>
            <a:ext cx="2560320" cy="1463040"/>
          </a:xfrm>
          <a:prstGeom prst="roundRect">
            <a:avLst/>
          </a:prstGeom>
          <a:solidFill>
            <a:srgbClr val="F2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3291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7ECFBC"/>
                </a:solidFill>
                <a:latin typeface="Microsoft YaHei"/>
              </a:defRPr>
            </a:pPr>
            <a:r>
              <a:t>209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3840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F3A38"/>
                </a:solidFill>
                <a:latin typeface="Microsoft YaHei"/>
              </a:defRPr>
            </a:pPr>
            <a:r>
              <a:t>测试用例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4206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706E"/>
                </a:solidFill>
                <a:latin typeface="Microsoft YaHei"/>
              </a:defRPr>
            </a:pPr>
            <a:r>
              <a:t>全部通过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35440" y="3200400"/>
            <a:ext cx="2560320" cy="1463040"/>
          </a:xfrm>
          <a:prstGeom prst="roundRect">
            <a:avLst/>
          </a:prstGeom>
          <a:solidFill>
            <a:srgbClr val="F2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35440" y="3291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7ECFBC"/>
                </a:solidFill>
                <a:latin typeface="Microsoft YaHei"/>
              </a:defRPr>
            </a:pPr>
            <a:r>
              <a:t>85%+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3840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F3A38"/>
                </a:solidFill>
                <a:latin typeface="Microsoft YaHei"/>
              </a:defRPr>
            </a:pPr>
            <a:r>
              <a:t>JaCoCo覆盖率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4206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706E"/>
                </a:solidFill>
                <a:latin typeface="Microsoft YaHei"/>
              </a:defRPr>
            </a:pPr>
            <a:r>
              <a:t>指令覆盖率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3A38"/>
                </a:solidFill>
                <a:latin typeface="Microsoft YaHei"/>
              </a:defRPr>
            </a:pPr>
            <a:r>
              <a:t>MVP主流程完成度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5486400"/>
            <a:ext cx="10698480" cy="365760"/>
          </a:xfrm>
          <a:prstGeom prst="roundRect">
            <a:avLst/>
          </a:prstGeom>
          <a:solidFill>
            <a:srgbClr val="E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31520" y="5486400"/>
            <a:ext cx="10149840" cy="365760"/>
          </a:xfrm>
          <a:prstGeom prst="roundRect">
            <a:avLst/>
          </a:prstGeom>
          <a:solidFill>
            <a:srgbClr val="7E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0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95%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E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F3A38"/>
                </a:solidFill>
                <a:latin typeface="Microsoft YaHei"/>
              </a:defRPr>
            </a:pPr>
            <a:r>
              <a:t>03  前端工作 — 屈天顺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6576"/>
          </a:xfrm>
          <a:prstGeom prst="rect">
            <a:avLst/>
          </a:prstGeom>
          <a:solidFill>
            <a:srgbClr val="FF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5303520" cy="2743200"/>
          </a:xfrm>
          <a:prstGeom prst="roundRect">
            <a:avLst/>
          </a:prstGeom>
          <a:solidFill>
            <a:srgbClr val="F2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B7A"/>
                </a:solidFill>
                <a:latin typeface="Microsoft YaHei"/>
              </a:defRPr>
            </a:pPr>
            <a:r>
              <a:t>📄  页面开发（12个模块）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F3A38"/>
                </a:solidFill>
                <a:latin typeface="Microsoft YaHei"/>
              </a:defRPr>
            </a:pPr>
            <a:r>
              <a:t>1. 首页 — Hero区、快捷入口、推荐内容/服务/商品</a:t>
            </a:r>
            <a:br/>
            <a:r>
              <a:t>2. 社区 — 帖子列表（瀑布/卡片网格）、详情、发布、评论、点赞、收藏</a:t>
            </a:r>
            <a:br/>
            <a:r>
              <a:t>3. 领养 — 宠物列表、详情、申请表单</a:t>
            </a:r>
            <a:br/>
            <a:r>
              <a:t>4. 服务 — 分类导航、商家列表、服务详情、预约</a:t>
            </a:r>
            <a:br/>
            <a:r>
              <a:t>5. 商城 — 商品分类、列表、详情、购物车、下单</a:t>
            </a:r>
            <a:br/>
            <a:r>
              <a:t>6. 个人中心 — 个人资料、宠物档案、订单管理、消息、收藏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97280"/>
            <a:ext cx="5029200" cy="2743200"/>
          </a:xfrm>
          <a:prstGeom prst="roundRect">
            <a:avLst/>
          </a:prstGeom>
          <a:solidFill>
            <a:srgbClr val="F2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B7A"/>
                </a:solidFill>
                <a:latin typeface="Microsoft YaHei"/>
              </a:defRPr>
            </a:pPr>
            <a:r>
              <a:t>🧩  组件封装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7373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F3A38"/>
                </a:solidFill>
                <a:latin typeface="Microsoft YaHei"/>
              </a:defRPr>
            </a:pPr>
            <a:r>
              <a:t>1. WebFooter.vue — 站点页脚（品牌区、多列链接、二维码占位、响应式布局）</a:t>
            </a:r>
            <a:br/>
            <a:br/>
            <a:r>
              <a:t>2. DataState.vue — 加载态/空态/错误态复用组件</a:t>
            </a:r>
            <a:br/>
            <a:br/>
            <a:r>
              <a:t>3. StatusBadge.vue — 状态标签组件</a:t>
            </a:r>
            <a:br/>
            <a:br/>
            <a:r>
              <a:t>4. 全局Design Token（tokens.scss）— 统一颜色、圆角、阴影、渐变</a:t>
            </a:r>
            <a:br/>
            <a:br/>
            <a:r>
              <a:t>5. 暖色系主题改造 — 全站绿色主色改为珊瑚橙/米杏色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303520" cy="2286000"/>
          </a:xfrm>
          <a:prstGeom prst="roundRect">
            <a:avLst/>
          </a:prstGeom>
          <a:solidFill>
            <a:srgbClr val="F2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97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B7A"/>
                </a:solidFill>
                <a:latin typeface="Microsoft YaHei"/>
              </a:defRPr>
            </a:pPr>
            <a:r>
              <a:t>🖥  管理员后台页面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7548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F3A38"/>
                </a:solidFill>
                <a:latin typeface="Microsoft YaHei"/>
              </a:defRPr>
            </a:pPr>
            <a:r>
              <a:t>1. 仪表盘 — 核心数据统计</a:t>
            </a:r>
            <a:br/>
            <a:r>
              <a:t>2. 用户管理 — 列表、搜索、状态管理</a:t>
            </a:r>
            <a:br/>
            <a:r>
              <a:t>3. 内容管理 — 帖子审核、评论管理</a:t>
            </a:r>
            <a:br/>
            <a:r>
              <a:t>4. 领养管理 — 宠物维护、申请审核</a:t>
            </a:r>
            <a:br/>
            <a:r>
              <a:t>5. 服务管理 — 商家管理、服务项目、预约单</a:t>
            </a:r>
            <a:br/>
            <a:r>
              <a:t>6. 商城管理 — 商品管理、订单处理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114800"/>
            <a:ext cx="5029200" cy="2286000"/>
          </a:xfrm>
          <a:prstGeom prst="roundRect">
            <a:avLst/>
          </a:prstGeom>
          <a:solidFill>
            <a:srgbClr val="F2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B7A"/>
                </a:solidFill>
                <a:latin typeface="Microsoft YaHei"/>
              </a:defRPr>
            </a:pPr>
            <a:r>
              <a:t>🧪  测试与CI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7548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F3A38"/>
                </a:solidFill>
                <a:latin typeface="Microsoft YaHei"/>
              </a:defRPr>
            </a:pPr>
            <a:r>
              <a:t>1. 14个前端测试全部通过</a:t>
            </a:r>
            <a:br/>
            <a:r>
              <a:t>   组件渲染/交互测试 9个 + Mock API测试 4个</a:t>
            </a:r>
            <a:br/>
            <a:r>
              <a:t>   核心组件覆盖率100%，整体语句覆盖率67.28%</a:t>
            </a:r>
            <a:br/>
            <a:br/>
            <a:r>
              <a:t>2. 配置ESLint，本地npm run lint零警告</a:t>
            </a:r>
            <a:br/>
            <a:br/>
            <a:r>
              <a:t>3. 配置GitHub Actions前端工作流</a:t>
            </a:r>
            <a:br/>
            <a:r>
              <a:t>   npm ci → ESLint → Vitest → Codecov</a:t>
            </a:r>
            <a:br/>
            <a:br/>
            <a:r>
              <a:t>4. API对接时接口失败自动降级到Mock数据</a:t>
            </a:r>
            <a:br/>
            <a:r>
              <a:t>   保证离线可演示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E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F3A38"/>
                </a:solidFill>
                <a:latin typeface="Microsoft YaHei"/>
              </a:defRPr>
            </a:pPr>
            <a:r>
              <a:t>04  后端工作 — 陈涵予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6576"/>
          </a:xfrm>
          <a:prstGeom prst="rect">
            <a:avLst/>
          </a:prstGeom>
          <a:solidFill>
            <a:srgbClr val="7E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5303520" cy="2560320"/>
          </a:xfrm>
          <a:prstGeom prst="roundRect">
            <a:avLst/>
          </a:prstGeom>
          <a:solidFill>
            <a:srgbClr val="F2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ECFBC"/>
                </a:solidFill>
                <a:latin typeface="Microsoft YaHei"/>
              </a:defRPr>
            </a:pPr>
            <a:r>
              <a:t>🏗  后端架构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F3A38"/>
                </a:solidFill>
                <a:latin typeface="Microsoft YaHei"/>
              </a:defRPr>
            </a:pPr>
            <a:r>
              <a:t>1. 分层架构：controller → service → mapper → database</a:t>
            </a:r>
            <a:br/>
            <a:br/>
            <a:r>
              <a:t>2. 接口隔离：用户端/api/v1，管理端/api/v1/admin</a:t>
            </a:r>
            <a:br/>
            <a:br/>
            <a:r>
              <a:t>3. JWT鉴权 + Spring Security角色控制</a:t>
            </a:r>
            <a:br/>
            <a:br/>
            <a:r>
              <a:t>4. 统一返回格式 {code, message, data}</a:t>
            </a:r>
            <a:br/>
            <a:br/>
            <a:r>
              <a:t>5. 全局异常处理 + 参数校验 + Swagger文档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97280"/>
            <a:ext cx="5029200" cy="2560320"/>
          </a:xfrm>
          <a:prstGeom prst="roundRect">
            <a:avLst/>
          </a:prstGeom>
          <a:solidFill>
            <a:srgbClr val="F2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ECFBC"/>
                </a:solidFill>
                <a:latin typeface="Microsoft YaHei"/>
              </a:defRPr>
            </a:pPr>
            <a:r>
              <a:t>📦  已实现8大模块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7373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F3A38"/>
                </a:solidFill>
                <a:latin typeface="Microsoft YaHei"/>
              </a:defRPr>
            </a:pPr>
            <a:r>
              <a:t>1. 用户认证 — 注册、登录、角色识别</a:t>
            </a:r>
            <a:br/>
            <a:r>
              <a:t>2. 首页聚合 — Banner、推荐内容/服务/商品</a:t>
            </a:r>
            <a:br/>
            <a:r>
              <a:t>3. 社区 — 帖子CRUD、评论、点赞、收藏</a:t>
            </a:r>
            <a:br/>
            <a:r>
              <a:t>4. 领养 — 宠物管理、申请提交、审核流转</a:t>
            </a:r>
            <a:br/>
            <a:r>
              <a:t>5. 服务预约 — 商家、服务项目、预约、评价</a:t>
            </a:r>
            <a:br/>
            <a:r>
              <a:t>6. 商城 — 商品、购物车、下单、库存管理</a:t>
            </a:r>
            <a:br/>
            <a:r>
              <a:t>7. 宠物档案 — 信息、疫苗、体重、相册、时间轴</a:t>
            </a:r>
            <a:br/>
            <a:r>
              <a:t>8. 后台管理 — 仪表盘、用户、内容、订单等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303520" cy="2560320"/>
          </a:xfrm>
          <a:prstGeom prst="roundRect">
            <a:avLst/>
          </a:prstGeom>
          <a:solidFill>
            <a:srgbClr val="F2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ECFBC"/>
                </a:solidFill>
                <a:latin typeface="Microsoft YaHei"/>
              </a:defRPr>
            </a:pPr>
            <a:r>
              <a:t>🗄  数据库与安全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7200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F3A38"/>
                </a:solidFill>
                <a:latin typeface="Microsoft YaHei"/>
              </a:defRPr>
            </a:pPr>
            <a:r>
              <a:t>1. 20+张核心表，覆盖8大业务模块</a:t>
            </a:r>
            <a:br/>
            <a:r>
              <a:t>2. schema.sql + seed.sql初始化脚本</a:t>
            </a:r>
            <a:br/>
            <a:r>
              <a:t>3. 关键索引优化（组合索引、唯一约束）</a:t>
            </a:r>
            <a:br/>
            <a:r>
              <a:t>4. 并发安全：库存原子扣减、预约行锁</a:t>
            </a:r>
            <a:br/>
            <a:r>
              <a:t>5. SQL注入防护（参数化查询）</a:t>
            </a:r>
            <a:br/>
            <a:r>
              <a:t>6. JWT密钥外部化（环境变量注入）</a:t>
            </a:r>
            <a:br/>
            <a:r>
              <a:t>7. 安全HTTP头（CSP、HSTS、XSS保护）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931920"/>
            <a:ext cx="5029200" cy="2560320"/>
          </a:xfrm>
          <a:prstGeom prst="roundRect">
            <a:avLst/>
          </a:prstGeom>
          <a:solidFill>
            <a:srgbClr val="F2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ECFBC"/>
                </a:solidFill>
                <a:latin typeface="Microsoft YaHei"/>
              </a:defRPr>
            </a:pPr>
            <a:r>
              <a:t>🧪  测试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5720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F3A38"/>
                </a:solidFill>
                <a:latin typeface="Microsoft YaHei"/>
              </a:defRPr>
            </a:pPr>
            <a:r>
              <a:t>1. 195个测试全部通过</a:t>
            </a:r>
            <a:br/>
            <a:br/>
            <a:r>
              <a:t>2. 三层测试策略：</a:t>
            </a:r>
            <a:br/>
            <a:r>
              <a:t>   Service单元测试（Mock Mapper）</a:t>
            </a:r>
            <a:br/>
            <a:r>
              <a:t>   WebMvc接口/权限测试</a:t>
            </a:r>
            <a:br/>
            <a:r>
              <a:t>   H2集成测试（真实SQL验证）</a:t>
            </a:r>
            <a:br/>
            <a:br/>
            <a:r>
              <a:t>3. JaCoCo覆盖率：</a:t>
            </a:r>
            <a:br/>
            <a:r>
              <a:t>   指令85.62%  行87.69%</a:t>
            </a:r>
            <a:br/>
            <a:br/>
            <a:r>
              <a:t>4. 覆盖正常、边界、异常场景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E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F3A38"/>
                </a:solidFill>
                <a:latin typeface="Microsoft YaHei"/>
              </a:defRPr>
            </a:pPr>
            <a:r>
              <a:t>05  测试与CI/CD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6576"/>
          </a:xfrm>
          <a:prstGeom prst="rect">
            <a:avLst/>
          </a:prstGeom>
          <a:solidFill>
            <a:srgbClr val="7E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5303520" cy="2560320"/>
          </a:xfrm>
          <a:prstGeom prst="roundRect">
            <a:avLst/>
          </a:prstGeom>
          <a:solidFill>
            <a:srgbClr val="F2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ECFBC"/>
                </a:solidFill>
                <a:latin typeface="Microsoft YaHei"/>
              </a:defRPr>
            </a:pPr>
            <a:r>
              <a:t>🧪  后端测试（陈涵予）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F3A38"/>
                </a:solidFill>
                <a:latin typeface="Microsoft YaHei"/>
              </a:defRPr>
            </a:pPr>
            <a:r>
              <a:t>1. 全量测试195个，全部通过</a:t>
            </a:r>
            <a:br/>
            <a:br/>
            <a:r>
              <a:t>2. Service单元测试 — Mock Mapper，验证业务逻辑</a:t>
            </a:r>
            <a:br/>
            <a:br/>
            <a:r>
              <a:t>3. WebMvc接口测试 — 验证接口响应和权限控制</a:t>
            </a:r>
            <a:br/>
            <a:br/>
            <a:r>
              <a:t>4. H2集成测试 — 真实SQL执行，验证数据正确性</a:t>
            </a:r>
            <a:br/>
            <a:br/>
            <a:r>
              <a:t>5. JaCoCo覆盖率：指令85.62%  行87.69%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97280"/>
            <a:ext cx="5029200" cy="2560320"/>
          </a:xfrm>
          <a:prstGeom prst="roundRect">
            <a:avLst/>
          </a:prstGeom>
          <a:solidFill>
            <a:srgbClr val="F2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B7A"/>
                </a:solidFill>
                <a:latin typeface="Microsoft YaHei"/>
              </a:defRPr>
            </a:pPr>
            <a:r>
              <a:t>🧪  前端测试（屈天顺）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7373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F3A38"/>
                </a:solidFill>
                <a:latin typeface="Microsoft YaHei"/>
              </a:defRPr>
            </a:pPr>
            <a:r>
              <a:t>1. 全量测试14个，全部通过</a:t>
            </a:r>
            <a:br/>
            <a:br/>
            <a:r>
              <a:t>2. 组件渲染/交互测试 9个</a:t>
            </a:r>
            <a:br/>
            <a:r>
              <a:t>   StatusBadge、DataState、WebFooter、AIPetDoctorChat</a:t>
            </a:r>
            <a:br/>
            <a:br/>
            <a:r>
              <a:t>3. Mock API测试 4个</a:t>
            </a:r>
            <a:br/>
            <a:br/>
            <a:r>
              <a:t>4. 核心组件覆盖率100%</a:t>
            </a:r>
            <a:br/>
            <a:r>
              <a:t>   整体语句覆盖率67.28%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698480" cy="2560320"/>
          </a:xfrm>
          <a:prstGeom prst="roundRect">
            <a:avLst/>
          </a:prstGeom>
          <a:solidFill>
            <a:srgbClr val="F2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ECFBC"/>
                </a:solidFill>
                <a:latin typeface="Microsoft YaHei"/>
              </a:defRPr>
            </a:pPr>
            <a:r>
              <a:t>⚙️  CI/CD 持续集成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7200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F3A38"/>
                </a:solidFill>
                <a:latin typeface="Microsoft YaHei"/>
              </a:defRPr>
            </a:pPr>
            <a:r>
              <a:t>1. GitHub Actions自动化工作流（main/develop分支触发）</a:t>
            </a:r>
            <a:br/>
            <a:br/>
            <a:r>
              <a:t>2. 前端流程：npm ci → ESLint检查 → Vitest测试 → Codecov上传</a:t>
            </a:r>
            <a:br/>
            <a:br/>
            <a:r>
              <a:t>3. 后端流程：Maven编译 → Checkstyle检查 → JUnit测试 → JaCoCo覆盖率 → Codecov上传</a:t>
            </a:r>
            <a:br/>
            <a:br/>
            <a:r>
              <a:t>4. Dependabot自动管理Maven和npm依赖更新</a:t>
            </a:r>
            <a:br/>
            <a:br/>
            <a:r>
              <a:t>5. CodeRabbit AI代码审查，自动检查PR代码质量</a:t>
            </a:r>
            <a:br/>
            <a:br/>
            <a:r>
              <a:t>6. README状态徽章（CI构建状态、Codecov覆盖率）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E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F3A38"/>
                </a:solidFill>
                <a:latin typeface="Microsoft YaHei"/>
              </a:defRPr>
            </a:pPr>
            <a:r>
              <a:t>06  程序演示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6576"/>
          </a:xfrm>
          <a:prstGeom prst="rect">
            <a:avLst/>
          </a:prstGeom>
          <a:solidFill>
            <a:srgbClr val="7E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F3A38"/>
                </a:solidFill>
                <a:latin typeface="Microsoft YaHei"/>
              </a:defRPr>
            </a:pPr>
            <a:r>
              <a:t>📱  用户前台演示流程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645920"/>
            <a:ext cx="548640" cy="548640"/>
          </a:xfrm>
          <a:prstGeom prst="ellipse">
            <a:avLst/>
          </a:prstGeom>
          <a:solidFill>
            <a:srgbClr val="7E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8760" y="1874520"/>
            <a:ext cx="548640" cy="73152"/>
          </a:xfrm>
          <a:prstGeom prst="rect">
            <a:avLst/>
          </a:prstGeom>
          <a:solidFill>
            <a:srgbClr val="E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F3A38"/>
                </a:solidFill>
                <a:latin typeface="Microsoft YaHei"/>
              </a:defRPr>
            </a:pPr>
            <a:r>
              <a:t>注册登录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706E"/>
                </a:solidFill>
                <a:latin typeface="Microsoft YaHei"/>
              </a:defRPr>
            </a:pPr>
            <a:r>
              <a:t>手机号+密码注册</a:t>
            </a:r>
            <a:br/>
            <a:r>
              <a:t>JWT鉴权登录</a:t>
            </a:r>
          </a:p>
        </p:txBody>
      </p:sp>
      <p:sp>
        <p:nvSpPr>
          <p:cNvPr id="10" name="Oval 9"/>
          <p:cNvSpPr/>
          <p:nvPr/>
        </p:nvSpPr>
        <p:spPr>
          <a:xfrm>
            <a:off x="2560320" y="1645920"/>
            <a:ext cx="548640" cy="548640"/>
          </a:xfrm>
          <a:prstGeom prst="ellipse">
            <a:avLst/>
          </a:prstGeom>
          <a:solidFill>
            <a:srgbClr val="7E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874520"/>
            <a:ext cx="548640" cy="73152"/>
          </a:xfrm>
          <a:prstGeom prst="rect">
            <a:avLst/>
          </a:prstGeom>
          <a:solidFill>
            <a:srgbClr val="E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377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F3A38"/>
                </a:solidFill>
                <a:latin typeface="Microsoft YaHei"/>
              </a:defRPr>
            </a:pPr>
            <a:r>
              <a:t>首页浏览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6517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706E"/>
                </a:solidFill>
                <a:latin typeface="Microsoft YaHei"/>
              </a:defRPr>
            </a:pPr>
            <a:r>
              <a:t>Banner轮播</a:t>
            </a:r>
            <a:br/>
            <a:r>
              <a:t>快捷入口、推荐内容</a:t>
            </a:r>
          </a:p>
        </p:txBody>
      </p:sp>
      <p:sp>
        <p:nvSpPr>
          <p:cNvPr id="14" name="Oval 13"/>
          <p:cNvSpPr/>
          <p:nvPr/>
        </p:nvSpPr>
        <p:spPr>
          <a:xfrm>
            <a:off x="4206240" y="1645920"/>
            <a:ext cx="548640" cy="548640"/>
          </a:xfrm>
          <a:prstGeom prst="ellipse">
            <a:avLst/>
          </a:prstGeom>
          <a:solidFill>
            <a:srgbClr val="7E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1874520"/>
            <a:ext cx="548640" cy="73152"/>
          </a:xfrm>
          <a:prstGeom prst="rect">
            <a:avLst/>
          </a:prstGeom>
          <a:solidFill>
            <a:srgbClr val="E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40" y="2377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F3A38"/>
                </a:solidFill>
                <a:latin typeface="Microsoft YaHei"/>
              </a:defRPr>
            </a:pPr>
            <a:r>
              <a:t>社区互动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26517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706E"/>
                </a:solidFill>
                <a:latin typeface="Microsoft YaHei"/>
              </a:defRPr>
            </a:pPr>
            <a:r>
              <a:t>浏览帖子列表</a:t>
            </a:r>
            <a:br/>
            <a:r>
              <a:t>发布、评论、点赞</a:t>
            </a:r>
          </a:p>
        </p:txBody>
      </p:sp>
      <p:sp>
        <p:nvSpPr>
          <p:cNvPr id="18" name="Oval 17"/>
          <p:cNvSpPr/>
          <p:nvPr/>
        </p:nvSpPr>
        <p:spPr>
          <a:xfrm>
            <a:off x="5852160" y="1645920"/>
            <a:ext cx="548640" cy="548640"/>
          </a:xfrm>
          <a:prstGeom prst="ellipse">
            <a:avLst/>
          </a:prstGeom>
          <a:solidFill>
            <a:srgbClr val="7E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1874520"/>
            <a:ext cx="548640" cy="73152"/>
          </a:xfrm>
          <a:prstGeom prst="rect">
            <a:avLst/>
          </a:prstGeom>
          <a:solidFill>
            <a:srgbClr val="E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2377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F3A38"/>
                </a:solidFill>
                <a:latin typeface="Microsoft YaHei"/>
              </a:defRPr>
            </a:pPr>
            <a:r>
              <a:t>领养申请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26517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706E"/>
                </a:solidFill>
                <a:latin typeface="Microsoft YaHei"/>
              </a:defRPr>
            </a:pPr>
            <a:r>
              <a:t>浏览待领养宠物</a:t>
            </a:r>
            <a:br/>
            <a:r>
              <a:t>提交领养申请</a:t>
            </a:r>
          </a:p>
        </p:txBody>
      </p:sp>
      <p:sp>
        <p:nvSpPr>
          <p:cNvPr id="22" name="Oval 21"/>
          <p:cNvSpPr/>
          <p:nvPr/>
        </p:nvSpPr>
        <p:spPr>
          <a:xfrm>
            <a:off x="7498080" y="1645920"/>
            <a:ext cx="548640" cy="548640"/>
          </a:xfrm>
          <a:prstGeom prst="ellipse">
            <a:avLst/>
          </a:prstGeom>
          <a:solidFill>
            <a:srgbClr val="7E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1874520"/>
            <a:ext cx="548640" cy="73152"/>
          </a:xfrm>
          <a:prstGeom prst="rect">
            <a:avLst/>
          </a:prstGeom>
          <a:solidFill>
            <a:srgbClr val="E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2377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F3A38"/>
                </a:solidFill>
                <a:latin typeface="Microsoft YaHei"/>
              </a:defRPr>
            </a:pPr>
            <a:r>
              <a:t>服务预约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6517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706E"/>
                </a:solidFill>
                <a:latin typeface="Microsoft YaHei"/>
              </a:defRPr>
            </a:pPr>
            <a:r>
              <a:t>查看商家服务</a:t>
            </a:r>
            <a:br/>
            <a:r>
              <a:t>提交预约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0" y="1645920"/>
            <a:ext cx="548640" cy="548640"/>
          </a:xfrm>
          <a:prstGeom prst="ellipse">
            <a:avLst/>
          </a:prstGeom>
          <a:solidFill>
            <a:srgbClr val="7E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38360" y="1874520"/>
            <a:ext cx="548640" cy="73152"/>
          </a:xfrm>
          <a:prstGeom prst="rect">
            <a:avLst/>
          </a:prstGeom>
          <a:solidFill>
            <a:srgbClr val="E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2377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F3A38"/>
                </a:solidFill>
                <a:latin typeface="Microsoft YaHei"/>
              </a:defRPr>
            </a:pPr>
            <a:r>
              <a:t>商城购物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6517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706E"/>
                </a:solidFill>
                <a:latin typeface="Microsoft YaHei"/>
              </a:defRPr>
            </a:pPr>
            <a:r>
              <a:t>加购商品</a:t>
            </a:r>
            <a:br/>
            <a:r>
              <a:t>下单购买</a:t>
            </a:r>
          </a:p>
        </p:txBody>
      </p:sp>
      <p:sp>
        <p:nvSpPr>
          <p:cNvPr id="30" name="Oval 29"/>
          <p:cNvSpPr/>
          <p:nvPr/>
        </p:nvSpPr>
        <p:spPr>
          <a:xfrm>
            <a:off x="10789920" y="1645920"/>
            <a:ext cx="548640" cy="548640"/>
          </a:xfrm>
          <a:prstGeom prst="ellipse">
            <a:avLst/>
          </a:prstGeom>
          <a:solidFill>
            <a:srgbClr val="7E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2377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F3A38"/>
                </a:solidFill>
                <a:latin typeface="Microsoft YaHei"/>
              </a:defRPr>
            </a:pPr>
            <a:r>
              <a:t>个人中心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26517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706E"/>
                </a:solidFill>
                <a:latin typeface="Microsoft YaHei"/>
              </a:defRPr>
            </a:pPr>
            <a:r>
              <a:t>宠物档案管理</a:t>
            </a:r>
            <a:br/>
            <a:r>
              <a:t>订单、消息查看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474720"/>
            <a:ext cx="10698480" cy="18288"/>
          </a:xfrm>
          <a:prstGeom prst="rect">
            <a:avLst/>
          </a:prstGeom>
          <a:solidFill>
            <a:srgbClr val="E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3657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F3A38"/>
                </a:solidFill>
                <a:latin typeface="Microsoft YaHei"/>
              </a:defRPr>
            </a:pPr>
            <a:r>
              <a:t>🖥  管理员后台演示流程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206240"/>
            <a:ext cx="457200" cy="457200"/>
          </a:xfrm>
          <a:prstGeom prst="ellipse">
            <a:avLst/>
          </a:prstGeom>
          <a:solidFill>
            <a:srgbClr val="FF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57400" y="4389120"/>
            <a:ext cx="457200" cy="54864"/>
          </a:xfrm>
          <a:prstGeom prst="rect">
            <a:avLst/>
          </a:prstGeom>
          <a:solidFill>
            <a:srgbClr val="FF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4846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F3A38"/>
                </a:solidFill>
                <a:latin typeface="Microsoft YaHei"/>
              </a:defRPr>
            </a:pPr>
            <a:r>
              <a:t>登录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1206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706E"/>
                </a:solidFill>
                <a:latin typeface="Microsoft YaHei"/>
              </a:defRPr>
            </a:pPr>
            <a:r>
              <a:t>管理员账号</a:t>
            </a:r>
            <a:br/>
            <a:r>
              <a:t>登录后台</a:t>
            </a:r>
          </a:p>
        </p:txBody>
      </p:sp>
      <p:sp>
        <p:nvSpPr>
          <p:cNvPr id="39" name="Oval 38"/>
          <p:cNvSpPr/>
          <p:nvPr/>
        </p:nvSpPr>
        <p:spPr>
          <a:xfrm>
            <a:off x="3657600" y="4206240"/>
            <a:ext cx="457200" cy="457200"/>
          </a:xfrm>
          <a:prstGeom prst="ellipse">
            <a:avLst/>
          </a:prstGeom>
          <a:solidFill>
            <a:srgbClr val="FF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60520" y="4389120"/>
            <a:ext cx="457200" cy="54864"/>
          </a:xfrm>
          <a:prstGeom prst="rect">
            <a:avLst/>
          </a:prstGeom>
          <a:solidFill>
            <a:srgbClr val="FF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0" y="4846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F3A38"/>
                </a:solidFill>
                <a:latin typeface="Microsoft YaHei"/>
              </a:defRPr>
            </a:pPr>
            <a:r>
              <a:t>仪表盘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51206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706E"/>
                </a:solidFill>
                <a:latin typeface="Microsoft YaHei"/>
              </a:defRPr>
            </a:pPr>
            <a:r>
              <a:t>查看核心</a:t>
            </a:r>
            <a:br/>
            <a:r>
              <a:t>运营数据</a:t>
            </a:r>
          </a:p>
        </p:txBody>
      </p:sp>
      <p:sp>
        <p:nvSpPr>
          <p:cNvPr id="43" name="Oval 42"/>
          <p:cNvSpPr/>
          <p:nvPr/>
        </p:nvSpPr>
        <p:spPr>
          <a:xfrm>
            <a:off x="5760720" y="4206240"/>
            <a:ext cx="457200" cy="457200"/>
          </a:xfrm>
          <a:prstGeom prst="ellipse">
            <a:avLst/>
          </a:prstGeom>
          <a:solidFill>
            <a:srgbClr val="FF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4389120"/>
            <a:ext cx="457200" cy="54864"/>
          </a:xfrm>
          <a:prstGeom prst="rect">
            <a:avLst/>
          </a:prstGeom>
          <a:solidFill>
            <a:srgbClr val="FF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0" y="4846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F3A38"/>
                </a:solidFill>
                <a:latin typeface="Microsoft YaHei"/>
              </a:defRPr>
            </a:pPr>
            <a:r>
              <a:t>内容审核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0" y="51206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706E"/>
                </a:solidFill>
                <a:latin typeface="Microsoft YaHei"/>
              </a:defRPr>
            </a:pPr>
            <a:r>
              <a:t>审核社区</a:t>
            </a:r>
            <a:br/>
            <a:r>
              <a:t>帖子评论</a:t>
            </a:r>
          </a:p>
        </p:txBody>
      </p:sp>
      <p:sp>
        <p:nvSpPr>
          <p:cNvPr id="47" name="Oval 46"/>
          <p:cNvSpPr/>
          <p:nvPr/>
        </p:nvSpPr>
        <p:spPr>
          <a:xfrm>
            <a:off x="7863840" y="4206240"/>
            <a:ext cx="457200" cy="457200"/>
          </a:xfrm>
          <a:prstGeom prst="ellipse">
            <a:avLst/>
          </a:prstGeom>
          <a:solidFill>
            <a:srgbClr val="FF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66760" y="4389120"/>
            <a:ext cx="457200" cy="54864"/>
          </a:xfrm>
          <a:prstGeom prst="rect">
            <a:avLst/>
          </a:prstGeom>
          <a:solidFill>
            <a:srgbClr val="FF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06640" y="4846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F3A38"/>
                </a:solidFill>
                <a:latin typeface="Microsoft YaHei"/>
              </a:defRPr>
            </a:pPr>
            <a:r>
              <a:t>领养审核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06640" y="51206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706E"/>
                </a:solidFill>
                <a:latin typeface="Microsoft YaHei"/>
              </a:defRPr>
            </a:pPr>
            <a:r>
              <a:t>处理领养</a:t>
            </a:r>
            <a:br/>
            <a:r>
              <a:t>申请</a:t>
            </a:r>
          </a:p>
        </p:txBody>
      </p:sp>
      <p:sp>
        <p:nvSpPr>
          <p:cNvPr id="51" name="Oval 50"/>
          <p:cNvSpPr/>
          <p:nvPr/>
        </p:nvSpPr>
        <p:spPr>
          <a:xfrm>
            <a:off x="9966960" y="4206240"/>
            <a:ext cx="457200" cy="457200"/>
          </a:xfrm>
          <a:prstGeom prst="ellipse">
            <a:avLst/>
          </a:prstGeom>
          <a:solidFill>
            <a:srgbClr val="FF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09760" y="4846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F3A38"/>
                </a:solidFill>
                <a:latin typeface="Microsoft YaHei"/>
              </a:defRPr>
            </a:pPr>
            <a:r>
              <a:t>订单处理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09760" y="51206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706E"/>
                </a:solidFill>
                <a:latin typeface="Microsoft YaHei"/>
              </a:defRPr>
            </a:pPr>
            <a:r>
              <a:t>管理商城</a:t>
            </a:r>
            <a:br/>
            <a:r>
              <a:t>订单状态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E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F3A38"/>
                </a:solidFill>
                <a:latin typeface="Microsoft YaHei"/>
              </a:defRPr>
            </a:pPr>
            <a:r>
              <a:t>07  后续计划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371600" cy="36576"/>
          </a:xfrm>
          <a:prstGeom prst="rect">
            <a:avLst/>
          </a:prstGeom>
          <a:solidFill>
            <a:srgbClr val="7EC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3383280" cy="3474720"/>
          </a:xfrm>
          <a:prstGeom prst="roundRect">
            <a:avLst/>
          </a:prstGeom>
          <a:solidFill>
            <a:srgbClr val="F2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ECFBC"/>
                </a:solidFill>
                <a:latin typeface="Microsoft YaHei"/>
              </a:defRPr>
            </a:pPr>
            <a:r>
              <a:t>🎨  前端优化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A38"/>
                </a:solidFill>
                <a:latin typeface="Microsoft YaHei"/>
              </a:defRPr>
            </a:pPr>
            <a:r>
              <a:t>1. 响应式适配与移动端兼容性优化</a:t>
            </a:r>
            <a:br/>
            <a:r>
              <a:t>2. 骨架屏与加载态体验提升</a:t>
            </a:r>
            <a:br/>
            <a:r>
              <a:t>3. 暗色模式支持</a:t>
            </a:r>
            <a:br/>
            <a:r>
              <a:t>4. 更多交互动效与微动画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188720"/>
            <a:ext cx="3383280" cy="3474720"/>
          </a:xfrm>
          <a:prstGeom prst="roundRect">
            <a:avLst/>
          </a:prstGeom>
          <a:solidFill>
            <a:srgbClr val="F2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1371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ECFBC"/>
                </a:solidFill>
                <a:latin typeface="Microsoft YaHei"/>
              </a:defRPr>
            </a:pPr>
            <a:r>
              <a:t>🚀  后端增强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19202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A38"/>
                </a:solidFill>
                <a:latin typeface="Microsoft YaHei"/>
              </a:defRPr>
            </a:pPr>
            <a:r>
              <a:t>1. Redis缓存接入（首页聚合、热门列表）</a:t>
            </a:r>
            <a:br/>
            <a:r>
              <a:t>2. MinIO文件存储升级</a:t>
            </a:r>
            <a:br/>
            <a:r>
              <a:t>3. 消息推送与通知系统完善</a:t>
            </a:r>
            <a:br/>
            <a:r>
              <a:t>4. 批量操作与数据导出功能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8" y="1188720"/>
            <a:ext cx="3383280" cy="3474720"/>
          </a:xfrm>
          <a:prstGeom prst="roundRect">
            <a:avLst/>
          </a:prstGeom>
          <a:solidFill>
            <a:srgbClr val="F2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18" y="1371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ECFBC"/>
                </a:solidFill>
                <a:latin typeface="Microsoft YaHei"/>
              </a:defRPr>
            </a:pPr>
            <a:r>
              <a:t>📋  质量与部署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18" y="19202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A38"/>
                </a:solidFill>
                <a:latin typeface="Microsoft YaHei"/>
              </a:defRPr>
            </a:pPr>
            <a:r>
              <a:t>1. 端到端（E2E）测试接入</a:t>
            </a:r>
            <a:br/>
            <a:r>
              <a:t>2. 性能测试与优化</a:t>
            </a:r>
            <a:br/>
            <a:r>
              <a:t>3. Docker部署文档完善</a:t>
            </a:r>
            <a:br/>
            <a:r>
              <a:t>4. 生产环境部署与运维手册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BB98C"/>
                </a:solidFill>
                <a:latin typeface="Microsoft YaHei"/>
              </a:defRPr>
            </a:pPr>
            <a:r>
              <a:t>谢谢！欢迎提问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